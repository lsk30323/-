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처리 건수</c:v>
                </c:pt>
              </c:strCache>
            </c:strRef>
          </c:tx>
          <c:spPr>
            <a:solidFill>
              <a:srgbClr val="4ECC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8E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180</c:v>
                </c:pt>
                <c:pt idx="2">
                  <c:v>150</c:v>
                </c:pt>
                <c:pt idx="3">
                  <c:v>210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8E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88CA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8C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88CA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8C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2A8F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8E8E8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103.64</c:v>
                </c:pt>
                <c:pt idx="1">
                  <c:v>153.64</c:v>
                </c:pt>
                <c:pt idx="2">
                  <c:v>53.64</c:v>
                </c:pt>
                <c:pt idx="3">
                  <c:v>203.64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8E8E8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88CA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8CA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B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88CA0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8CA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457200"/>
            <a:ext cx="4007815" cy="5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CC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08 AI Project: ReCoCo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1695" y="990295"/>
            <a:ext cx="3478378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8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iOS 사진 삭제 추천 서비스 — Before / After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953805" y="1143000"/>
            <a:ext cx="864108" cy="385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E8E8E8">
                    <a:alpha val="35000"/>
                  </a:srgbClr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DRAFT</a:t>
            </a:r>
            <a:endParaRPr lang="en-US" sz="2100" dirty="0"/>
          </a:p>
        </p:txBody>
      </p:sp>
      <p:pic>
        <p:nvPicPr>
          <p:cNvPr id="5" name="Image 0" descr="/home/user/html-to-editable-pptx/fixtur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20095" y="457200"/>
            <a:ext cx="609905" cy="6099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1695" y="1524305"/>
            <a:ext cx="10668305" cy="4476902"/>
          </a:xfrm>
          <a:prstGeom prst="roundRect">
            <a:avLst>
              <a:gd name="adj" fmla="val 3411"/>
            </a:avLst>
          </a:prstGeom>
          <a:solidFill>
            <a:srgbClr val="16213E"/>
          </a:solidFill>
          <a:ln w="19050">
            <a:solidFill>
              <a:srgbClr val="4ECCA3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809598"/>
          <a:ext cx="9905695" cy="3090672"/>
        </p:xfrm>
        <a:graphic>
          <a:graphicData uri="http://schemas.openxmlformats.org/drawingml/2006/table">
            <a:tbl>
              <a:tblPr/>
              <a:tblGrid>
                <a:gridCol w="4750308"/>
                <a:gridCol w="5156302"/>
              </a:tblGrid>
              <a:tr h="429768"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4ECCA3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개선 전후 비교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 hMerge="1"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4ECCA3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Before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4ECCA3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After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7307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JS 메인 스레드 랭킹 동기 실행, UI 차단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Native Day-key 브랜치, JS 브릿지 대기 제거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앱 오픈과 동시 실행, 런처 속도 저해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AI 실행 경로 완전 분리, 기록 의도 시점에만 실행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캐시 히트 시 재빌드, 인코딩 오버헤드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Render-ready 화면 캐시, 히트 즉시 렌더링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실행 시 사진첩 전체 스캔, Cold Start 지연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백그라운드 사전 큐레이션, 미리 준비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데이터 로드 시점 측정, p95 신뢰 불가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Paint 지점 계측 도입, 실제 렌더 기준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기록·스킵 액션 미반영, 동일 사진 반복 노출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통합 뮤테이션 클로저, 모든 액션 즉시 반영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952805" y="5676595"/>
            <a:ext cx="1524305" cy="209398"/>
          </a:xfrm>
          <a:prstGeom prst="rect">
            <a:avLst/>
          </a:prstGeom>
          <a:solidFill>
            <a:srgbClr val="2A8F6F"/>
          </a:solidFill>
          <a:ln/>
        </p:spPr>
      </p:sp>
      <p:sp>
        <p:nvSpPr>
          <p:cNvPr id="9" name="Text 5"/>
          <p:cNvSpPr/>
          <p:nvPr/>
        </p:nvSpPr>
        <p:spPr>
          <a:xfrm>
            <a:off x="761695" y="6248095"/>
            <a:ext cx="2726741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2026.01 - 진행중 | 2인 (현업 IT임원 + 본인)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457200"/>
            <a:ext cx="1488643" cy="5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CC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검증 요약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1695" y="990295"/>
            <a:ext cx="1934870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8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3-layer validation 결과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1695" y="1524305"/>
            <a:ext cx="10668305" cy="4476902"/>
          </a:xfrm>
          <a:prstGeom prst="roundRect">
            <a:avLst>
              <a:gd name="adj" fmla="val 3411"/>
            </a:avLst>
          </a:prstGeom>
          <a:solidFill>
            <a:srgbClr val="16213E"/>
          </a:solidFill>
          <a:ln w="19050">
            <a:solidFill>
              <a:srgbClr val="4ECCA3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43000" y="1904695"/>
          <a:ext cx="9905695" cy="1545336"/>
        </p:xfrm>
        <a:graphic>
          <a:graphicData uri="http://schemas.openxmlformats.org/drawingml/2006/table">
            <a:tbl>
              <a:tblPr/>
              <a:tblGrid>
                <a:gridCol w="2467966"/>
                <a:gridCol w="3580790"/>
                <a:gridCol w="3857854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4ECCA3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구분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4ECCA3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레이어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4ECCA3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결과</a:t>
                      </a:r>
                      <a:endParaRPr lang="en-US" sz="135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73075"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의미 계층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A 텍스트 보존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17/17 보존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03">
                <a:tc vMerge="1">
                  <a:tcPr/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B 미디어 무결성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MD5 1/1 일치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85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시각 계층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C 픽셀 diff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30" dirty="0">
                          <a:solidFill>
                            <a:srgbClr val="E8E8E8"/>
                          </a:solidFill>
                          <a:latin typeface="Noto Sans CJK KR" pitchFamily="34" charset="0"/>
                          <a:ea typeface="Noto Sans CJK KR" pitchFamily="34" charset="-122"/>
                          <a:cs typeface="Noto Sans CJK KR" pitchFamily="34" charset="-120"/>
                        </a:rPr>
                        <a:t>2.85% (기준 5%)</a:t>
                      </a:r>
                      <a:endParaRPr lang="en-US" sz="1130" dirty="0">
                        <a:latin typeface="Noto Sans CJK KR" charset="0"/>
                        <a:ea typeface="Noto Sans CJK KR" charset="0"/>
                        <a:cs typeface="Noto Sans CJK KR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61695" y="6248095"/>
            <a:ext cx="259141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editability score 1.0 | rule-based only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1695" y="457200"/>
            <a:ext cx="1838858" cy="551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4ECCA3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월별 처리량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61695" y="990295"/>
            <a:ext cx="3488436" cy="2761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78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rule-based chart recovery — 두 가지 티어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61695" y="1524305"/>
            <a:ext cx="10668305" cy="4476902"/>
          </a:xfrm>
          <a:prstGeom prst="roundRect">
            <a:avLst>
              <a:gd name="adj" fmla="val 3411"/>
            </a:avLst>
          </a:prstGeom>
          <a:solidFill>
            <a:srgbClr val="16213E"/>
          </a:solidFill>
          <a:ln w="19050">
            <a:solidFill>
              <a:srgbClr val="4ECCA3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1333195" y="2095805"/>
          <a:ext cx="4381805" cy="304769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476695" y="2095805"/>
          <a:ext cx="4381805" cy="3047695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761695" y="6248095"/>
            <a:ext cx="4251046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CA0"/>
                </a:solidFill>
                <a:latin typeface="Noto Sans CJK KR" pitchFamily="34" charset="0"/>
                <a:ea typeface="Noto Sans CJK KR" pitchFamily="34" charset="-122"/>
                <a:cs typeface="Noto Sans CJK KR" pitchFamily="34" charset="-120"/>
              </a:rPr>
              <a:t>tier1: data-* 속성 (source first) | tier2: SVG 마크 + 축 스케일 역산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2026-07-03T12:20:08Z</dcterms:created>
  <dcterms:modified xsi:type="dcterms:W3CDTF">2026-07-03T12:20:08Z</dcterms:modified>
</cp:coreProperties>
</file>